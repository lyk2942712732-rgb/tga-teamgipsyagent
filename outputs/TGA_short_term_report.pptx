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16388" r="16388"/>
          <a:stretch>
            <a:fillRect/>
          </a:stretch>
        </p:blipFill>
        <p:spPr>
          <a:xfrm>
            <a:off x="4000500" y="0"/>
            <a:ext cx="81915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7632BE5-A82E-4AF7-817B-01CF02355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85775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4C6C79-4496-4D17-AACF-D9D123CE198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81915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97B997-A874-478C-98C1-809D96A6C147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短学期项目汇报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820E2A-D7BC-4AE1-9666-0C67AE30504D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TGA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DFAAF6-DCAC-4AB7-BD7D-AA141A74832A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4095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证据优先的</a:t>
            </a:r>
            <a:endParaRPr sz="27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授权安全智能体</a:t>
            </a:r>
            <a:endParaRPr sz="27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8F266A-9CE0-4640-B993-4A16D0A6182C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37909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 CTF 解题与授权漏洞审查，</a:t>
            </a:r>
          </a:p>
          <a:p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把任务规划、工具执行、证据留存和报告生成串成闭环。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0346-CFB8-4B3A-9D6F-9882CE009B60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Team Gipsy Agent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09E1E6-020B-4F83-B0BD-5A891E2E6A70}"/>
              </a:ext>
            </a:extLst>
          </p:cNvPr>
          <p:cNvSpPr>
            <a:spLocks noGrp="1"/>
          </p:cNvSpPr>
          <p:nvPr/>
        </p:nvSpPr>
        <p:spPr>
          <a:xfrm>
            <a:off x="400050" y="60579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 分钟展示：目标、方案、开发成果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9CDD4A-65A3-4DCB-976E-7A9E37D47768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365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02301FA-DBA5-4BFC-BA3F-F23A3DD79AE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整体目标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660CBE-3833-467E-9537-DE871B9C6A8A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目标不是“跑工具”，而是让结论有证据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516FAB-6F7C-4D51-A98A-F78DB2E35575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Team Gipsy Agent / 短学期项目汇报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3DD8B6-B0E5-4787-B4A7-431759F42768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B83B6-5434-4FEE-858C-DE7F8EB73C8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495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安全自动化容易给出“看似合理”的结论；短学期 MVP 要证明的是：每个确认结果都能回到真实输出和 artifact。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30AFE3-71AE-4C98-8651-7B0AF75EE408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2857500" cy="381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684DEB-DDB9-4A86-BF7C-C7EAB7E5E1A3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Week 1 规则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44E455-6EB7-45BE-80AE-296FF1FB707F}"/>
              </a:ext>
            </a:extLst>
          </p:cNvPr>
          <p:cNvSpPr>
            <a:spLocks noGrp="1"/>
          </p:cNvSpPr>
          <p:nvPr/>
        </p:nvSpPr>
        <p:spPr>
          <a:xfrm>
            <a:off x="400050" y="40767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No evidence, no confirmed result.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9B20BD-89F2-44CB-B999-67493B0D639D}"/>
              </a:ext>
            </a:extLst>
          </p:cNvPr>
          <p:cNvSpPr>
            <a:spLocks noGrp="1"/>
          </p:cNvSpPr>
          <p:nvPr/>
        </p:nvSpPr>
        <p:spPr>
          <a:xfrm>
            <a:off x="400050" y="4533900"/>
            <a:ext cx="4429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flag 必须匹配格式并出现在真实输出中；finding 必须引用 artifact 并通过 evidence gate。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5EDDCE-85F3-4B9C-B7EE-B7399B95ED8E}"/>
              </a:ext>
            </a:extLst>
          </p:cNvPr>
          <p:cNvSpPr>
            <a:spLocks noGrp="1"/>
          </p:cNvSpPr>
          <p:nvPr/>
        </p:nvSpPr>
        <p:spPr>
          <a:xfrm>
            <a:off x="6191250" y="1695450"/>
            <a:ext cx="685800" cy="685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FDF449-8CCA-4E39-9E91-C083EE5F3A05}"/>
              </a:ext>
            </a:extLst>
          </p:cNvPr>
          <p:cNvSpPr>
            <a:spLocks noGrp="1"/>
          </p:cNvSpPr>
          <p:nvPr/>
        </p:nvSpPr>
        <p:spPr>
          <a:xfrm>
            <a:off x="6286500" y="18478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9EAD08-6236-44FB-9DC1-7087572DAC3F}"/>
              </a:ext>
            </a:extLst>
          </p:cNvPr>
          <p:cNvSpPr>
            <a:spLocks noGrp="1"/>
          </p:cNvSpPr>
          <p:nvPr/>
        </p:nvSpPr>
        <p:spPr>
          <a:xfrm>
            <a:off x="7124700" y="1714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授权边界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F3DB5B-F0F9-45C0-9656-3B18074589FB}"/>
              </a:ext>
            </a:extLst>
          </p:cNvPr>
          <p:cNvSpPr>
            <a:spLocks noGrp="1"/>
          </p:cNvSpPr>
          <p:nvPr/>
        </p:nvSpPr>
        <p:spPr>
          <a:xfrm>
            <a:off x="7124700" y="20764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scope、intensity 和 active scan 开关先行判断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6B1908-DBCA-4ED7-8DCC-E1F877A5EC73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D34FF4-2A80-4AA4-A64C-6263B8E6F2FC}"/>
              </a:ext>
            </a:extLst>
          </p:cNvPr>
          <p:cNvSpPr>
            <a:spLocks noGrp="1"/>
          </p:cNvSpPr>
          <p:nvPr/>
        </p:nvSpPr>
        <p:spPr>
          <a:xfrm>
            <a:off x="6191250" y="2762250"/>
            <a:ext cx="685800" cy="685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ABD0E1-8801-41AA-906C-861014CC9A4E}"/>
              </a:ext>
            </a:extLst>
          </p:cNvPr>
          <p:cNvSpPr>
            <a:spLocks noGrp="1"/>
          </p:cNvSpPr>
          <p:nvPr/>
        </p:nvSpPr>
        <p:spPr>
          <a:xfrm>
            <a:off x="6286500" y="29146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923A97-461F-4672-AAA5-A319FF1D5341}"/>
              </a:ext>
            </a:extLst>
          </p:cNvPr>
          <p:cNvSpPr>
            <a:spLocks noGrp="1"/>
          </p:cNvSpPr>
          <p:nvPr/>
        </p:nvSpPr>
        <p:spPr>
          <a:xfrm>
            <a:off x="7124700" y="27813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任务闭环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CCD7E2-481B-421A-A3E0-C1BE4784F4D3}"/>
              </a:ext>
            </a:extLst>
          </p:cNvPr>
          <p:cNvSpPr>
            <a:spLocks noGrp="1"/>
          </p:cNvSpPr>
          <p:nvPr/>
        </p:nvSpPr>
        <p:spPr>
          <a:xfrm>
            <a:off x="7124700" y="31432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 task config 到 intent、worker、artifact 和 report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B1B71B-EE7E-400F-B3AC-3D9A851E4292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9D82DF-2DE7-4A71-B3DB-024B0D7CD6C3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685800" cy="685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02F646-D522-4FB4-AFFA-6E05E491F07B}"/>
              </a:ext>
            </a:extLst>
          </p:cNvPr>
          <p:cNvSpPr>
            <a:spLocks noGrp="1"/>
          </p:cNvSpPr>
          <p:nvPr/>
        </p:nvSpPr>
        <p:spPr>
          <a:xfrm>
            <a:off x="6286500" y="39814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28B9DE-5321-4596-BA83-A3E3DC2C8103}"/>
              </a:ext>
            </a:extLst>
          </p:cNvPr>
          <p:cNvSpPr>
            <a:spLocks noGrp="1"/>
          </p:cNvSpPr>
          <p:nvPr/>
        </p:nvSpPr>
        <p:spPr>
          <a:xfrm>
            <a:off x="7124700" y="38481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工具集成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666E1C-E005-4D9F-8BC7-79FD259F293C}"/>
              </a:ext>
            </a:extLst>
          </p:cNvPr>
          <p:cNvSpPr>
            <a:spLocks noGrp="1"/>
          </p:cNvSpPr>
          <p:nvPr/>
        </p:nvSpPr>
        <p:spPr>
          <a:xfrm>
            <a:off x="7124700" y="42100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通过 MCP catalog 接入安全工具，但不等于直接放权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BC4DF9-515A-4294-ACB3-60B0BA1DEAFA}"/>
              </a:ext>
            </a:extLst>
          </p:cNvPr>
          <p:cNvSpPr>
            <a:spLocks noGrp="1"/>
          </p:cNvSpPr>
          <p:nvPr/>
        </p:nvSpPr>
        <p:spPr>
          <a:xfrm>
            <a:off x="6191250" y="47244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3F3647-D04C-43D1-B9E2-35971D464195}"/>
              </a:ext>
            </a:extLst>
          </p:cNvPr>
          <p:cNvSpPr>
            <a:spLocks noGrp="1"/>
          </p:cNvSpPr>
          <p:nvPr/>
        </p:nvSpPr>
        <p:spPr>
          <a:xfrm>
            <a:off x="6191250" y="4895850"/>
            <a:ext cx="685800" cy="685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FD5BBD-F39D-4979-9212-62CB8A964581}"/>
              </a:ext>
            </a:extLst>
          </p:cNvPr>
          <p:cNvSpPr>
            <a:spLocks noGrp="1"/>
          </p:cNvSpPr>
          <p:nvPr/>
        </p:nvSpPr>
        <p:spPr>
          <a:xfrm>
            <a:off x="6286500" y="50482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FC2EEE-23D1-42F8-9DD2-E3DD9D2D03B8}"/>
              </a:ext>
            </a:extLst>
          </p:cNvPr>
          <p:cNvSpPr>
            <a:spLocks noGrp="1"/>
          </p:cNvSpPr>
          <p:nvPr/>
        </p:nvSpPr>
        <p:spPr>
          <a:xfrm>
            <a:off x="7124700" y="49149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可复核报告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7CF2D1-D482-445D-827B-4942A2D67796}"/>
              </a:ext>
            </a:extLst>
          </p:cNvPr>
          <p:cNvSpPr>
            <a:spLocks noGrp="1"/>
          </p:cNvSpPr>
          <p:nvPr/>
        </p:nvSpPr>
        <p:spPr>
          <a:xfrm>
            <a:off x="7124700" y="52768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报告展示 flag、finding、限制和证据来源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01101D-930C-4E59-B1A3-289ADB8A280D}"/>
              </a:ext>
            </a:extLst>
          </p:cNvPr>
          <p:cNvSpPr>
            <a:spLocks noGrp="1"/>
          </p:cNvSpPr>
          <p:nvPr/>
        </p:nvSpPr>
        <p:spPr>
          <a:xfrm>
            <a:off x="6191250" y="57912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527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AB3F28D2-15A2-4906-8150-FCDB94D5C97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C5ACF9-47BE-41F0-88AF-E4BD0F276CDF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系统按“任务 - 意图 - 工具 - 证据 - 报告”闭环运转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FD9686-960D-46D5-9502-2F5D7C8E2FE9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Team Gipsy Agent / 短学期项目汇报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1E9016-115D-4B4B-ACE0-D68CCB3EEB4F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01DDAF-09B1-4197-B80F-1ABE3746C44E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733550" cy="1314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8233A-B568-4936-84C6-27174AB16835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2F79A3-D13E-4CB2-AB41-71A59617C30F}"/>
              </a:ext>
            </a:extLst>
          </p:cNvPr>
          <p:cNvSpPr>
            <a:spLocks noGrp="1"/>
          </p:cNvSpPr>
          <p:nvPr/>
        </p:nvSpPr>
        <p:spPr>
          <a:xfrm>
            <a:off x="628650" y="23050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配置目标与范围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0DD192-70F2-4D7F-BB86-A3AA01B9CC17}"/>
              </a:ext>
            </a:extLst>
          </p:cNvPr>
          <p:cNvSpPr>
            <a:spLocks noGrp="1"/>
          </p:cNvSpPr>
          <p:nvPr/>
        </p:nvSpPr>
        <p:spPr>
          <a:xfrm>
            <a:off x="628650" y="27241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DADA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ADADA"/>
                </a:solidFill>
                <a:latin typeface="Microsoft YaHei"/>
                <a:ea typeface="Microsoft YaHei"/>
                <a:cs typeface="Microsoft YaHei"/>
              </a:rPr>
              <a:t>task.json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1D6536-0D6B-4F4D-8C55-419D3A17EE8A}"/>
              </a:ext>
            </a:extLst>
          </p:cNvPr>
          <p:cNvSpPr>
            <a:spLocks noGrp="1"/>
          </p:cNvSpPr>
          <p:nvPr/>
        </p:nvSpPr>
        <p:spPr>
          <a:xfrm>
            <a:off x="2209800" y="217170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D7CB82-05BC-4FA5-9D4F-E5A65C627E32}"/>
              </a:ext>
            </a:extLst>
          </p:cNvPr>
          <p:cNvSpPr>
            <a:spLocks noGrp="1"/>
          </p:cNvSpPr>
          <p:nvPr/>
        </p:nvSpPr>
        <p:spPr>
          <a:xfrm>
            <a:off x="2362200" y="1695450"/>
            <a:ext cx="1733550" cy="1314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16BD4C-DAB8-49D4-BF8E-2A668CCB2D3B}"/>
              </a:ext>
            </a:extLst>
          </p:cNvPr>
          <p:cNvSpPr>
            <a:spLocks noGrp="1"/>
          </p:cNvSpPr>
          <p:nvPr/>
        </p:nvSpPr>
        <p:spPr>
          <a:xfrm>
            <a:off x="2533650" y="1885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38406C-4F80-4ECD-9A62-F32D14BA0ADD}"/>
              </a:ext>
            </a:extLst>
          </p:cNvPr>
          <p:cNvSpPr>
            <a:spLocks noGrp="1"/>
          </p:cNvSpPr>
          <p:nvPr/>
        </p:nvSpPr>
        <p:spPr>
          <a:xfrm>
            <a:off x="2533650" y="23050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生成执行意图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8114BA-5B56-4378-9E59-AF670281980E}"/>
              </a:ext>
            </a:extLst>
          </p:cNvPr>
          <p:cNvSpPr>
            <a:spLocks noGrp="1"/>
          </p:cNvSpPr>
          <p:nvPr/>
        </p:nvSpPr>
        <p:spPr>
          <a:xfrm>
            <a:off x="2533650" y="27241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533793-0306-4801-B496-F157C83C03FE}"/>
              </a:ext>
            </a:extLst>
          </p:cNvPr>
          <p:cNvSpPr>
            <a:spLocks noGrp="1"/>
          </p:cNvSpPr>
          <p:nvPr/>
        </p:nvSpPr>
        <p:spPr>
          <a:xfrm>
            <a:off x="4114800" y="217170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D780B3-D608-4236-9332-C7DC17D81D28}"/>
              </a:ext>
            </a:extLst>
          </p:cNvPr>
          <p:cNvSpPr>
            <a:spLocks noGrp="1"/>
          </p:cNvSpPr>
          <p:nvPr/>
        </p:nvSpPr>
        <p:spPr>
          <a:xfrm>
            <a:off x="4267200" y="1695450"/>
            <a:ext cx="1733550" cy="1314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E2907D-5114-42D2-9E33-DAE84F44E03C}"/>
              </a:ext>
            </a:extLst>
          </p:cNvPr>
          <p:cNvSpPr>
            <a:spLocks noGrp="1"/>
          </p:cNvSpPr>
          <p:nvPr/>
        </p:nvSpPr>
        <p:spPr>
          <a:xfrm>
            <a:off x="4438650" y="1885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2CDE87-E5BC-4C62-9E84-C0FD0BE7EB8A}"/>
              </a:ext>
            </a:extLst>
          </p:cNvPr>
          <p:cNvSpPr>
            <a:spLocks noGrp="1"/>
          </p:cNvSpPr>
          <p:nvPr/>
        </p:nvSpPr>
        <p:spPr>
          <a:xfrm>
            <a:off x="4438650" y="23050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调用工具执行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ECCE4A-2C63-44E2-9C0A-880932DD9962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tga/workers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D0086E-6260-4140-95E0-1C88C6252FBF}"/>
              </a:ext>
            </a:extLst>
          </p:cNvPr>
          <p:cNvSpPr>
            <a:spLocks noGrp="1"/>
          </p:cNvSpPr>
          <p:nvPr/>
        </p:nvSpPr>
        <p:spPr>
          <a:xfrm>
            <a:off x="6019800" y="217170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CBAC98-43B2-4200-8510-A103A50A0E6E}"/>
              </a:ext>
            </a:extLst>
          </p:cNvPr>
          <p:cNvSpPr>
            <a:spLocks noGrp="1"/>
          </p:cNvSpPr>
          <p:nvPr/>
        </p:nvSpPr>
        <p:spPr>
          <a:xfrm>
            <a:off x="6172200" y="1695450"/>
            <a:ext cx="1733550" cy="1314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B061CE-4576-4704-87FB-31D79BB84662}"/>
              </a:ext>
            </a:extLst>
          </p:cNvPr>
          <p:cNvSpPr>
            <a:spLocks noGrp="1"/>
          </p:cNvSpPr>
          <p:nvPr/>
        </p:nvSpPr>
        <p:spPr>
          <a:xfrm>
            <a:off x="6343650" y="1885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F98E2C-6B6C-4250-9970-6DDC00B4980D}"/>
              </a:ext>
            </a:extLst>
          </p:cNvPr>
          <p:cNvSpPr>
            <a:spLocks noGrp="1"/>
          </p:cNvSpPr>
          <p:nvPr/>
        </p:nvSpPr>
        <p:spPr>
          <a:xfrm>
            <a:off x="6343650" y="23050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保存原始输出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581128-EC53-490C-9927-0356A51BFD16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tga/evidence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775D5D-BC1A-4C3F-BBF0-7D45743CC08A}"/>
              </a:ext>
            </a:extLst>
          </p:cNvPr>
          <p:cNvSpPr>
            <a:spLocks noGrp="1"/>
          </p:cNvSpPr>
          <p:nvPr/>
        </p:nvSpPr>
        <p:spPr>
          <a:xfrm>
            <a:off x="7924800" y="217170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2ED134-D9D5-4DAB-A90F-FDC7DBEEB241}"/>
              </a:ext>
            </a:extLst>
          </p:cNvPr>
          <p:cNvSpPr>
            <a:spLocks noGrp="1"/>
          </p:cNvSpPr>
          <p:nvPr/>
        </p:nvSpPr>
        <p:spPr>
          <a:xfrm>
            <a:off x="8077200" y="1695450"/>
            <a:ext cx="1733550" cy="1314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551AEC-EA26-496B-9945-39E7C92D10A4}"/>
              </a:ext>
            </a:extLst>
          </p:cNvPr>
          <p:cNvSpPr>
            <a:spLocks noGrp="1"/>
          </p:cNvSpPr>
          <p:nvPr/>
        </p:nvSpPr>
        <p:spPr>
          <a:xfrm>
            <a:off x="8248650" y="1885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A8BDEB-1AB9-4A58-8313-9F06DE2E4AEE}"/>
              </a:ext>
            </a:extLst>
          </p:cNvPr>
          <p:cNvSpPr>
            <a:spLocks noGrp="1"/>
          </p:cNvSpPr>
          <p:nvPr/>
        </p:nvSpPr>
        <p:spPr>
          <a:xfrm>
            <a:off x="8248650" y="23050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验证 flag/finding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DDD09D-2062-407B-9CB0-F80F7ED2A1D2}"/>
              </a:ext>
            </a:extLst>
          </p:cNvPr>
          <p:cNvSpPr>
            <a:spLocks noGrp="1"/>
          </p:cNvSpPr>
          <p:nvPr/>
        </p:nvSpPr>
        <p:spPr>
          <a:xfrm>
            <a:off x="8248650" y="27241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tga/core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61E7C16-B529-42D8-B98B-10F9F8A3E80C}"/>
              </a:ext>
            </a:extLst>
          </p:cNvPr>
          <p:cNvSpPr>
            <a:spLocks noGrp="1"/>
          </p:cNvSpPr>
          <p:nvPr/>
        </p:nvSpPr>
        <p:spPr>
          <a:xfrm>
            <a:off x="9829800" y="217170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7D23A2-D30F-4E48-8A58-B40ABEE3C8CE}"/>
              </a:ext>
            </a:extLst>
          </p:cNvPr>
          <p:cNvSpPr>
            <a:spLocks noGrp="1"/>
          </p:cNvSpPr>
          <p:nvPr/>
        </p:nvSpPr>
        <p:spPr>
          <a:xfrm>
            <a:off x="9982200" y="1695450"/>
            <a:ext cx="1733550" cy="1314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86CF519-0F21-482B-A876-E752DE3C860D}"/>
              </a:ext>
            </a:extLst>
          </p:cNvPr>
          <p:cNvSpPr>
            <a:spLocks noGrp="1"/>
          </p:cNvSpPr>
          <p:nvPr/>
        </p:nvSpPr>
        <p:spPr>
          <a:xfrm>
            <a:off x="10153650" y="1885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3AE077-0B8B-4F3F-87BB-B1213F5C30EE}"/>
              </a:ext>
            </a:extLst>
          </p:cNvPr>
          <p:cNvSpPr>
            <a:spLocks noGrp="1"/>
          </p:cNvSpPr>
          <p:nvPr/>
        </p:nvSpPr>
        <p:spPr>
          <a:xfrm>
            <a:off x="10153650" y="23050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汇总可复核结果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63ABE69-EE19-49F1-A58F-81771EE33F8A}"/>
              </a:ext>
            </a:extLst>
          </p:cNvPr>
          <p:cNvSpPr>
            <a:spLocks noGrp="1"/>
          </p:cNvSpPr>
          <p:nvPr/>
        </p:nvSpPr>
        <p:spPr>
          <a:xfrm>
            <a:off x="10153650" y="27241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DADA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ADADA"/>
                </a:solidFill>
                <a:latin typeface="Microsoft YaHei"/>
                <a:ea typeface="Microsoft YaHei"/>
                <a:cs typeface="Microsoft YaHei"/>
              </a:rPr>
              <a:t>tga/reporting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0A71C4-A0AB-47A3-91D1-BEF29C036A9D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476875" cy="1943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07C204C-4FA7-4274-A59D-F5C3AAC08A55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证据门禁把“候选结果”变成“确认结果”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FADBE4-E36E-4B08-86B9-EE533532687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8F1AC7-4C33-458E-94E0-34A3F765FAB6}"/>
              </a:ext>
            </a:extLst>
          </p:cNvPr>
          <p:cNvSpPr>
            <a:spLocks noGrp="1"/>
          </p:cNvSpPr>
          <p:nvPr/>
        </p:nvSpPr>
        <p:spPr>
          <a:xfrm>
            <a:off x="895350" y="44386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CTF flag：匹配 flag_format，且来自 stdout / stderr / artifact 文本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6155A87-05D1-41A5-B2E5-C979E879D52C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EEED232-374D-4772-A837-13DAE1A560D5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漏洞 finding：必须有 evidence_artifact_id 和可复现片段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DD39AF8-BE3D-472C-B650-F14A07DA8274}"/>
              </a:ext>
            </a:extLst>
          </p:cNvPr>
          <p:cNvSpPr>
            <a:spLocks noGrp="1"/>
          </p:cNvSpPr>
          <p:nvPr/>
        </p:nvSpPr>
        <p:spPr>
          <a:xfrm>
            <a:off x="6324600" y="3676650"/>
            <a:ext cx="5467350" cy="1943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DE2F7C1-F3E3-4173-A1C8-F66B5D37416F}"/>
              </a:ext>
            </a:extLst>
          </p:cNvPr>
          <p:cNvSpPr>
            <a:spLocks noGrp="1"/>
          </p:cNvSpPr>
          <p:nvPr/>
        </p:nvSpPr>
        <p:spPr>
          <a:xfrm>
            <a:off x="6572250" y="3924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工具执行先经过策略层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D60489-D7B0-40AC-B2F8-CC724177312B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不把集成等同于权限，每次执行都要先过策略。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F5A1A1C-5F96-4E69-B5E0-1C27177E8EC6}"/>
              </a:ext>
            </a:extLst>
          </p:cNvPr>
          <p:cNvSpPr>
            <a:spLocks noGrp="1"/>
          </p:cNvSpPr>
          <p:nvPr/>
        </p:nvSpPr>
        <p:spPr>
          <a:xfrm>
            <a:off x="6610350" y="47720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953319-B17C-41C5-8211-C091CDF0C57F}"/>
              </a:ext>
            </a:extLst>
          </p:cNvPr>
          <p:cNvSpPr>
            <a:spLocks noGrp="1"/>
          </p:cNvSpPr>
          <p:nvPr/>
        </p:nvSpPr>
        <p:spPr>
          <a:xfrm>
            <a:off x="6819900" y="468630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ToolRunner 先做 scope、active scan、rate limit 判断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E77E76E-7628-4EF1-A05F-6E522C479AA3}"/>
              </a:ext>
            </a:extLst>
          </p:cNvPr>
          <p:cNvSpPr>
            <a:spLocks noGrp="1"/>
          </p:cNvSpPr>
          <p:nvPr/>
        </p:nvSpPr>
        <p:spPr>
          <a:xfrm>
            <a:off x="6610350" y="52292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6B0592A-1153-49EB-AC3E-12219599BF8B}"/>
              </a:ext>
            </a:extLst>
          </p:cNvPr>
          <p:cNvSpPr>
            <a:spLocks noGrp="1"/>
          </p:cNvSpPr>
          <p:nvPr/>
        </p:nvSpPr>
        <p:spPr>
          <a:xfrm>
            <a:off x="6819900" y="514350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MCP 输出、失败、时间和目标都会沉淀为 artifact</a:t>
            </a:r>
          </a:p>
        </p:txBody>
      </p:sp>
    </p:spTree>
    <p:extLst>
      <p:ext uri="{BB962C8B-B14F-4D97-AF65-F5344CB8AC3E}">
        <p14:creationId xmlns:p14="http://schemas.microsoft.com/office/powerpoint/2010/main" val="60930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95D19726-28D6-44F9-BDD6-2C65A286E30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开发展示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00F8F3-CF6F-4A4E-AE68-69BB8B81D1FC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开发展示聚焦三个可交付模块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E3BB7A-E436-468E-A5DF-059D9BCF9435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Team Gipsy Agent / 短学期项目汇报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156C66-192D-4124-8F12-A2162A48DFFE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573B07-9299-4D63-A1C7-D9F3ECB700FB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62350" cy="28194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05284D-A010-49B9-ABB8-2CA314E6EC2F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62350" cy="95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D32F95-93A6-4860-AEDA-BAB81B1E9594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 / 编排与证据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1C1F6-F90F-46EA-8FA7-AF054D21CFD4}"/>
              </a:ext>
            </a:extLst>
          </p:cNvPr>
          <p:cNvSpPr>
            <a:spLocks noGrp="1"/>
          </p:cNvSpPr>
          <p:nvPr/>
        </p:nvSpPr>
        <p:spPr>
          <a:xfrm>
            <a:off x="666750" y="26765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D2761C-F344-42EB-B41F-A01BEE0947C1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 TGATask、Intent、Artifact、Finding 合约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9B3706-1737-4502-9065-D9FD5C70F1D3}"/>
              </a:ext>
            </a:extLst>
          </p:cNvPr>
          <p:cNvSpPr>
            <a:spLocks noGrp="1"/>
          </p:cNvSpPr>
          <p:nvPr/>
        </p:nvSpPr>
        <p:spPr>
          <a:xfrm>
            <a:off x="666750" y="33051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CBBA18-E9B9-4071-9785-E79D16107E67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EvidenceStore 记录 task、intent、event、artifact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D50DB8-BF24-4A62-A606-79DA5227A294}"/>
              </a:ext>
            </a:extLst>
          </p:cNvPr>
          <p:cNvSpPr>
            <a:spLocks noGrp="1"/>
          </p:cNvSpPr>
          <p:nvPr/>
        </p:nvSpPr>
        <p:spPr>
          <a:xfrm>
            <a:off x="666750" y="3933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E306D9-3381-4BF8-9BAD-05D42F7D7DCA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flag_gate 与 finding_gate 控制确认结论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9499BF-B9C0-4D55-8C69-81773602CD93}"/>
              </a:ext>
            </a:extLst>
          </p:cNvPr>
          <p:cNvSpPr>
            <a:spLocks noGrp="1"/>
          </p:cNvSpPr>
          <p:nvPr/>
        </p:nvSpPr>
        <p:spPr>
          <a:xfrm>
            <a:off x="4314825" y="1676400"/>
            <a:ext cx="3562350" cy="28194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6B7237-2BB2-40C2-8101-BFD86B735686}"/>
              </a:ext>
            </a:extLst>
          </p:cNvPr>
          <p:cNvSpPr>
            <a:spLocks noGrp="1"/>
          </p:cNvSpPr>
          <p:nvPr/>
        </p:nvSpPr>
        <p:spPr>
          <a:xfrm>
            <a:off x="4314825" y="1676400"/>
            <a:ext cx="35623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67E3B0-BE79-40E4-B3FA-F047FF9C560D}"/>
              </a:ext>
            </a:extLst>
          </p:cNvPr>
          <p:cNvSpPr>
            <a:spLocks noGrp="1"/>
          </p:cNvSpPr>
          <p:nvPr/>
        </p:nvSpPr>
        <p:spPr>
          <a:xfrm>
            <a:off x="4562475" y="20002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 / 执行与 MCP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892307-E3A7-4F5B-BEAC-167B22A2E23A}"/>
              </a:ext>
            </a:extLst>
          </p:cNvPr>
          <p:cNvSpPr>
            <a:spLocks noGrp="1"/>
          </p:cNvSpPr>
          <p:nvPr/>
        </p:nvSpPr>
        <p:spPr>
          <a:xfrm>
            <a:off x="4581525" y="26765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F6C20C-C43A-4BAF-91D0-4020BB490D10}"/>
              </a:ext>
            </a:extLst>
          </p:cNvPr>
          <p:cNvSpPr>
            <a:spLocks noGrp="1"/>
          </p:cNvSpPr>
          <p:nvPr/>
        </p:nvSpPr>
        <p:spPr>
          <a:xfrm>
            <a:off x="4791075" y="25908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SubprocessWorker 与 LLMHTTPWorker 承接执行层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02813B-66C5-4D64-BA42-C55DFCE960D4}"/>
              </a:ext>
            </a:extLst>
          </p:cNvPr>
          <p:cNvSpPr>
            <a:spLocks noGrp="1"/>
          </p:cNvSpPr>
          <p:nvPr/>
        </p:nvSpPr>
        <p:spPr>
          <a:xfrm>
            <a:off x="4581525" y="33051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5752C2-2A07-4A7B-A346-521D30B51612}"/>
              </a:ext>
            </a:extLst>
          </p:cNvPr>
          <p:cNvSpPr>
            <a:spLocks noGrp="1"/>
          </p:cNvSpPr>
          <p:nvPr/>
        </p:nvSpPr>
        <p:spPr>
          <a:xfrm>
            <a:off x="4791075" y="321945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ToolRunner 调用前校验 scope 与强度策略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EC7CEE-8970-401E-B8D5-490AE728464C}"/>
              </a:ext>
            </a:extLst>
          </p:cNvPr>
          <p:cNvSpPr>
            <a:spLocks noGrp="1"/>
          </p:cNvSpPr>
          <p:nvPr/>
        </p:nvSpPr>
        <p:spPr>
          <a:xfrm>
            <a:off x="4581525" y="3933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347E9C-8052-48DB-8712-C99A29D2A321}"/>
              </a:ext>
            </a:extLst>
          </p:cNvPr>
          <p:cNvSpPr>
            <a:spLocks noGrp="1"/>
          </p:cNvSpPr>
          <p:nvPr/>
        </p:nvSpPr>
        <p:spPr>
          <a:xfrm>
            <a:off x="4791075" y="38481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mcp-security-hub 作为可扩展工具目录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D62C83-AD40-4965-B9F3-04C5AC0C8918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62350" cy="28194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F60AE83-B7F8-4E3B-A901-EEB19ED7CB0E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62350" cy="95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20B136-FF39-4FAC-8D2C-DF5BCBEA1A1C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 / 产品与报告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497256-000C-458F-B0C6-8BAD2B87B882}"/>
              </a:ext>
            </a:extLst>
          </p:cNvPr>
          <p:cNvSpPr>
            <a:spLocks noGrp="1"/>
          </p:cNvSpPr>
          <p:nvPr/>
        </p:nvSpPr>
        <p:spPr>
          <a:xfrm>
            <a:off x="8496300" y="26765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2C86BD-F7A8-4C70-A7C2-AB891696EF9E}"/>
              </a:ext>
            </a:extLst>
          </p:cNvPr>
          <p:cNvSpPr>
            <a:spLocks noGrp="1"/>
          </p:cNvSpPr>
          <p:nvPr/>
        </p:nvSpPr>
        <p:spPr>
          <a:xfrm>
            <a:off x="8705850" y="25908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FastAPI 提供 task、chat、report、MCP 状态接口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443176-7825-499B-8B6A-4BD51BF186C6}"/>
              </a:ext>
            </a:extLst>
          </p:cNvPr>
          <p:cNvSpPr>
            <a:spLocks noGrp="1"/>
          </p:cNvSpPr>
          <p:nvPr/>
        </p:nvSpPr>
        <p:spPr>
          <a:xfrm>
            <a:off x="8496300" y="33051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31726B-068B-4F5A-8FD8-114B1BB33388}"/>
              </a:ext>
            </a:extLst>
          </p:cNvPr>
          <p:cNvSpPr>
            <a:spLocks noGrp="1"/>
          </p:cNvSpPr>
          <p:nvPr/>
        </p:nvSpPr>
        <p:spPr>
          <a:xfrm>
            <a:off x="8705850" y="321945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React UI 管理 session、对话和运行证据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0A0C98-AEB1-4BC5-80CC-3ADDC5C9CE7A}"/>
              </a:ext>
            </a:extLst>
          </p:cNvPr>
          <p:cNvSpPr>
            <a:spLocks noGrp="1"/>
          </p:cNvSpPr>
          <p:nvPr/>
        </p:nvSpPr>
        <p:spPr>
          <a:xfrm>
            <a:off x="8496300" y="3933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24EAF0C-0A2F-421A-8548-3815F04E9136}"/>
              </a:ext>
            </a:extLst>
          </p:cNvPr>
          <p:cNvSpPr>
            <a:spLocks noGrp="1"/>
          </p:cNvSpPr>
          <p:nvPr/>
        </p:nvSpPr>
        <p:spPr>
          <a:xfrm>
            <a:off x="8705850" y="38481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Markdown report 输出可复核的结果摘要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42C7D9-CF72-4A70-88C9-37C58FF66AC5}"/>
              </a:ext>
            </a:extLst>
          </p:cNvPr>
          <p:cNvSpPr>
            <a:spLocks noGrp="1"/>
          </p:cNvSpPr>
          <p:nvPr/>
        </p:nvSpPr>
        <p:spPr>
          <a:xfrm>
            <a:off x="400050" y="4933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31857F-8734-4AC7-9EE5-B0058DDB5F1B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75346D-66F7-4A44-8F3A-14540AA16165}"/>
              </a:ext>
            </a:extLst>
          </p:cNvPr>
          <p:cNvSpPr>
            <a:spLocks noGrp="1"/>
          </p:cNvSpPr>
          <p:nvPr/>
        </p:nvSpPr>
        <p:spPr>
          <a:xfrm>
            <a:off x="1238250" y="5276850"/>
            <a:ext cx="885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tga run examples/web_ctf/task.json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51B9381-BDB3-4A68-8CFA-678E9163E9D7}"/>
              </a:ext>
            </a:extLst>
          </p:cNvPr>
          <p:cNvSpPr>
            <a:spLocks noGrp="1"/>
          </p:cNvSpPr>
          <p:nvPr/>
        </p:nvSpPr>
        <p:spPr>
          <a:xfrm>
            <a:off x="400050" y="55435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750A546-C9B0-4341-929C-778B5A7AEED0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885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apps/api/main.py 统一提供 /api/tasks、/api/chat、/api/report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9D984B9-4D76-4BC1-8A1E-AB0E8879952F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F9514F-A9ED-43F7-BE6E-C9D3A6E54C2D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885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apps/web/src/App.tsx 管理 session、LLM 接入、证据面板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688C365-306E-4664-97F3-75D314F6D065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CA7BABC-1B77-4EF1-ABFA-27E0AC81AD2F}"/>
              </a:ext>
            </a:extLst>
          </p:cNvPr>
          <p:cNvSpPr>
            <a:spLocks noGrp="1"/>
          </p:cNvSpPr>
          <p:nvPr/>
        </p:nvSpPr>
        <p:spPr>
          <a:xfrm>
            <a:off x="1238250" y="6076950"/>
            <a:ext cx="885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runs/&lt;task&gt;/reports/report.md 展示结论与 provenance</a:t>
            </a:r>
          </a:p>
        </p:txBody>
      </p:sp>
    </p:spTree>
    <p:extLst>
      <p:ext uri="{BB962C8B-B14F-4D97-AF65-F5344CB8AC3E}">
        <p14:creationId xmlns:p14="http://schemas.microsoft.com/office/powerpoint/2010/main" val="1232744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9E5AE94F-AD52-470F-BD10-841A1996FD2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成果与下一步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D73FD2-C02D-4F5C-8203-780F0E57DE3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当前成果已经形成可验收的 MVP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CB013A-D71F-4F58-A113-2269EE4D24D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Team Gipsy Agent / 短学期项目汇报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E74857-935A-4F0A-82D6-62189B3C4367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7A5821-82EC-4039-AF4E-3FC4152D717D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2419350" cy="16383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E8F7BD-13E0-4B72-99F4-0121FEB00FD5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14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B18391-51A8-4311-960F-7310D4F81DEC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tests passed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3A7C4F-2F23-4C46-82B3-0723EACC6E4A}"/>
              </a:ext>
            </a:extLst>
          </p:cNvPr>
          <p:cNvSpPr>
            <a:spLocks noGrp="1"/>
          </p:cNvSpPr>
          <p:nvPr/>
        </p:nvSpPr>
        <p:spPr>
          <a:xfrm>
            <a:off x="628650" y="3000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DADA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ADADA"/>
                </a:solidFill>
                <a:latin typeface="Microsoft YaHei"/>
                <a:ea typeface="Microsoft YaHei"/>
                <a:cs typeface="Microsoft YaHei"/>
              </a:rPr>
              <a:t>项目测试套件通过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F18226-C054-403C-ABB4-2BDF40D6FC32}"/>
              </a:ext>
            </a:extLst>
          </p:cNvPr>
          <p:cNvSpPr>
            <a:spLocks noGrp="1"/>
          </p:cNvSpPr>
          <p:nvPr/>
        </p:nvSpPr>
        <p:spPr>
          <a:xfrm>
            <a:off x="3257550" y="1695450"/>
            <a:ext cx="2419350" cy="1638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667B99-2BC4-4B1A-BDF8-F4FC7085C1FC}"/>
              </a:ext>
            </a:extLst>
          </p:cNvPr>
          <p:cNvSpPr>
            <a:spLocks noGrp="1"/>
          </p:cNvSpPr>
          <p:nvPr/>
        </p:nvSpPr>
        <p:spPr>
          <a:xfrm>
            <a:off x="3467100" y="1962150"/>
            <a:ext cx="114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8AC761-3E2C-4A12-A7ED-FF0541C8D9B7}"/>
              </a:ext>
            </a:extLst>
          </p:cNvPr>
          <p:cNvSpPr>
            <a:spLocks noGrp="1"/>
          </p:cNvSpPr>
          <p:nvPr/>
        </p:nvSpPr>
        <p:spPr>
          <a:xfrm>
            <a:off x="3486150" y="26860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MCP servers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25CF1E-B904-4BE1-A530-2A302B0E673E}"/>
              </a:ext>
            </a:extLst>
          </p:cNvPr>
          <p:cNvSpPr>
            <a:spLocks noGrp="1"/>
          </p:cNvSpPr>
          <p:nvPr/>
        </p:nvSpPr>
        <p:spPr>
          <a:xfrm>
            <a:off x="3486150" y="3000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文档记录完整目录接入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70AEA6-10CB-4334-8135-B4532BDF268E}"/>
              </a:ext>
            </a:extLst>
          </p:cNvPr>
          <p:cNvSpPr>
            <a:spLocks noGrp="1"/>
          </p:cNvSpPr>
          <p:nvPr/>
        </p:nvSpPr>
        <p:spPr>
          <a:xfrm>
            <a:off x="6115050" y="1695450"/>
            <a:ext cx="2419350" cy="1638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3992CD-F2F8-4B72-B488-3CCDBEF3D117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114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CBC40C-5DC8-4F00-A7A3-4D20EEC5DD17}"/>
              </a:ext>
            </a:extLst>
          </p:cNvPr>
          <p:cNvSpPr>
            <a:spLocks noGrp="1"/>
          </p:cNvSpPr>
          <p:nvPr/>
        </p:nvSpPr>
        <p:spPr>
          <a:xfrm>
            <a:off x="6343650" y="26860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demo modes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4A3A1C-B4A5-4022-BD53-2A8C77E3777B}"/>
              </a:ext>
            </a:extLst>
          </p:cNvPr>
          <p:cNvSpPr>
            <a:spLocks noGrp="1"/>
          </p:cNvSpPr>
          <p:nvPr/>
        </p:nvSpPr>
        <p:spPr>
          <a:xfrm>
            <a:off x="6343650" y="3000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三类演示任务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3A9DE8-5222-4D6A-BB82-7D92427AAC8B}"/>
              </a:ext>
            </a:extLst>
          </p:cNvPr>
          <p:cNvSpPr>
            <a:spLocks noGrp="1"/>
          </p:cNvSpPr>
          <p:nvPr/>
        </p:nvSpPr>
        <p:spPr>
          <a:xfrm>
            <a:off x="8972550" y="1695450"/>
            <a:ext cx="2419350" cy="1638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18C19F-33DD-4842-B76A-587D187F7273}"/>
              </a:ext>
            </a:extLst>
          </p:cNvPr>
          <p:cNvSpPr>
            <a:spLocks noGrp="1"/>
          </p:cNvSpPr>
          <p:nvPr/>
        </p:nvSpPr>
        <p:spPr>
          <a:xfrm>
            <a:off x="9182100" y="1962150"/>
            <a:ext cx="114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D8135A-ED04-4D22-9080-B09C727D64EF}"/>
              </a:ext>
            </a:extLst>
          </p:cNvPr>
          <p:cNvSpPr>
            <a:spLocks noGrp="1"/>
          </p:cNvSpPr>
          <p:nvPr/>
        </p:nvSpPr>
        <p:spPr>
          <a:xfrm>
            <a:off x="9201150" y="26860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evidence rule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674D9C-A106-4A87-B354-E3B5EF28842D}"/>
              </a:ext>
            </a:extLst>
          </p:cNvPr>
          <p:cNvSpPr>
            <a:spLocks noGrp="1"/>
          </p:cNvSpPr>
          <p:nvPr/>
        </p:nvSpPr>
        <p:spPr>
          <a:xfrm>
            <a:off x="9201150" y="3000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无证据不确认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9F7C4B-EF04-43F4-8A98-932A76B7E62C}"/>
              </a:ext>
            </a:extLst>
          </p:cNvPr>
          <p:cNvSpPr>
            <a:spLocks noGrp="1"/>
          </p:cNvSpPr>
          <p:nvPr/>
        </p:nvSpPr>
        <p:spPr>
          <a:xfrm>
            <a:off x="400050" y="3848100"/>
            <a:ext cx="5295900" cy="16764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CCBEEA-1978-4B1D-A79C-481968B82F7F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1FD6BD-F4D8-44BB-8429-B72C6F798F9E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27E3E4-8D13-406B-93AF-9954F5E531B0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407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 Python 包与 CLI 入口，可本地安装运行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E38A2D-B502-4087-891A-A2C0E324B399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79BB9C-F85D-4BA7-ADBA-D6510F2D3289}"/>
              </a:ext>
            </a:extLst>
          </p:cNvPr>
          <p:cNvSpPr>
            <a:spLocks noGrp="1"/>
          </p:cNvSpPr>
          <p:nvPr/>
        </p:nvSpPr>
        <p:spPr>
          <a:xfrm>
            <a:off x="895350" y="4991100"/>
            <a:ext cx="407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证据库、artifact、门禁和 Markdown 报告闭环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1532A0-F58F-4788-99D9-243E994D90DF}"/>
              </a:ext>
            </a:extLst>
          </p:cNvPr>
          <p:cNvSpPr>
            <a:spLocks noGrp="1"/>
          </p:cNvSpPr>
          <p:nvPr/>
        </p:nvSpPr>
        <p:spPr>
          <a:xfrm>
            <a:off x="6496050" y="3848100"/>
            <a:ext cx="5295900" cy="16764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B1CD54-1CAA-4EE3-A466-B2BED569EE86}"/>
              </a:ext>
            </a:extLst>
          </p:cNvPr>
          <p:cNvSpPr>
            <a:spLocks noGrp="1"/>
          </p:cNvSpPr>
          <p:nvPr/>
        </p:nvSpPr>
        <p:spPr>
          <a:xfrm>
            <a:off x="6743700" y="4095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494369-192E-4CE8-8385-4761E94EB5CF}"/>
              </a:ext>
            </a:extLst>
          </p:cNvPr>
          <p:cNvSpPr>
            <a:spLocks noGrp="1"/>
          </p:cNvSpPr>
          <p:nvPr/>
        </p:nvSpPr>
        <p:spPr>
          <a:xfrm>
            <a:off x="6781800" y="46386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917309-8FBD-48B0-93C8-C190EF7A5EF8}"/>
              </a:ext>
            </a:extLst>
          </p:cNvPr>
          <p:cNvSpPr>
            <a:spLocks noGrp="1"/>
          </p:cNvSpPr>
          <p:nvPr/>
        </p:nvSpPr>
        <p:spPr>
          <a:xfrm>
            <a:off x="6991350" y="4552950"/>
            <a:ext cx="3886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扩展真实工具适配和更多靶场样例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A32C4E-3798-4023-85A5-B4D0D25BC61F}"/>
              </a:ext>
            </a:extLst>
          </p:cNvPr>
          <p:cNvSpPr>
            <a:spLocks noGrp="1"/>
          </p:cNvSpPr>
          <p:nvPr/>
        </p:nvSpPr>
        <p:spPr>
          <a:xfrm>
            <a:off x="6781800" y="507682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CE027F7-B169-478C-A8AE-DB9B6E45103F}"/>
              </a:ext>
            </a:extLst>
          </p:cNvPr>
          <p:cNvSpPr>
            <a:spLocks noGrp="1"/>
          </p:cNvSpPr>
          <p:nvPr/>
        </p:nvSpPr>
        <p:spPr>
          <a:xfrm>
            <a:off x="6991350" y="4991100"/>
            <a:ext cx="3886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完善前端中文显示、演示数据与部署脚本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011487F-B469-4F51-B9DE-C384B54949FF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942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验证命令：pytest -q --basetemp .pytest_tmp；MCP 数据来自项目文档记录。</a:t>
            </a:r>
          </a:p>
        </p:txBody>
      </p:sp>
    </p:spTree>
    <p:extLst>
      <p:ext uri="{BB962C8B-B14F-4D97-AF65-F5344CB8AC3E}">
        <p14:creationId xmlns:p14="http://schemas.microsoft.com/office/powerpoint/2010/main" val="18504683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DocSecurity>0</DocSecurity>
  <PresentationFormat>宽屏</PresentationFormat>
  <Paragraphs>111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昱宽 李</cp:lastModifiedBy>
  <cp:revision>1</cp:revision>
  <dcterms:created xsi:type="dcterms:W3CDTF">2026-07-10T00:47:49Z</dcterms:created>
  <dcterms:modified xsi:type="dcterms:W3CDTF">2026-07-10T01:43:39Z</dcterms:modified>
</cp:coreProperties>
</file>